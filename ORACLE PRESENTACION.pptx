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IN Next" panose="020B0604020202020204" charset="0"/>
      <p:regular r:id="rId11"/>
    </p:embeddedFont>
    <p:embeddedFont>
      <p:font typeface="DIN Next Bold" panose="020B0604020202020204" charset="0"/>
      <p:regular r:id="rId12"/>
    </p:embeddedFont>
    <p:embeddedFont>
      <p:font typeface="Telegraf" panose="020B0604020202020204" charset="0"/>
      <p:regular r:id="rId13"/>
    </p:embeddedFont>
    <p:embeddedFont>
      <p:font typeface="Telegraf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91500" y="7143750"/>
            <a:ext cx="1905000" cy="38100"/>
            <a:chOff x="0" y="0"/>
            <a:chExt cx="25400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0000" cy="50800"/>
            </a:xfrm>
            <a:custGeom>
              <a:avLst/>
              <a:gdLst/>
              <a:ahLst/>
              <a:cxnLst/>
              <a:rect l="l" t="t" r="r" b="b"/>
              <a:pathLst>
                <a:path w="2540000" h="50800">
                  <a:moveTo>
                    <a:pt x="0" y="0"/>
                  </a:moveTo>
                  <a:lnTo>
                    <a:pt x="2540000" y="0"/>
                  </a:lnTo>
                  <a:lnTo>
                    <a:pt x="254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-461896" y="238090"/>
            <a:ext cx="5000133" cy="3550095"/>
          </a:xfrm>
          <a:custGeom>
            <a:avLst/>
            <a:gdLst/>
            <a:ahLst/>
            <a:cxnLst/>
            <a:rect l="l" t="t" r="r" b="b"/>
            <a:pathLst>
              <a:path w="5000133" h="3550095">
                <a:moveTo>
                  <a:pt x="0" y="0"/>
                </a:moveTo>
                <a:lnTo>
                  <a:pt x="5000133" y="0"/>
                </a:lnTo>
                <a:lnTo>
                  <a:pt x="5000133" y="3550095"/>
                </a:lnTo>
                <a:lnTo>
                  <a:pt x="0" y="355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2476500" y="1800225"/>
            <a:ext cx="1333500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CCCCCC"/>
                </a:solidFill>
                <a:latin typeface="DIN Next"/>
                <a:ea typeface="DIN Next"/>
                <a:cs typeface="DIN Next"/>
                <a:sym typeface="DIN Next"/>
              </a:rPr>
              <a:t>INSTITUTO POLITECNICO NACIONAL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76500" y="2571750"/>
            <a:ext cx="13335000" cy="39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CCCCCC"/>
                </a:solidFill>
                <a:latin typeface="DIN Next"/>
                <a:ea typeface="DIN Next"/>
                <a:cs typeface="DIN Next"/>
                <a:sym typeface="DIN Next"/>
              </a:rPr>
              <a:t>ESIME Unidad Culhuacan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6500" y="4057650"/>
            <a:ext cx="13335000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Proyecto de Base de Datos</a:t>
            </a:r>
          </a:p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para Cafeteria Escolar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1500" y="6057900"/>
            <a:ext cx="9525000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E94560"/>
                </a:solidFill>
                <a:latin typeface="DIN Next Bold"/>
                <a:ea typeface="DIN Next Bold"/>
                <a:cs typeface="DIN Next Bold"/>
                <a:sym typeface="DIN Next Bold"/>
              </a:rPr>
              <a:t>Usando Oracle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952500"/>
            <a:ext cx="57150" cy="4762500"/>
            <a:chOff x="0" y="0"/>
            <a:chExt cx="762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6350000"/>
            </a:xfrm>
            <a:custGeom>
              <a:avLst/>
              <a:gdLst/>
              <a:ahLst/>
              <a:cxnLst/>
              <a:rect l="l" t="t" r="r" b="b"/>
              <a:pathLst>
                <a:path w="76200" h="6350000">
                  <a:moveTo>
                    <a:pt x="0" y="0"/>
                  </a:moveTo>
                  <a:lnTo>
                    <a:pt x="76200" y="0"/>
                  </a:lnTo>
                  <a:lnTo>
                    <a:pt x="76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05000" y="1152525"/>
            <a:ext cx="14287500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6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Planteamiento del Problema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2362200"/>
            <a:ext cx="14287500" cy="447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La cafeteria escolar carece de un sistema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automatizado para gestionar inventarios,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ventas y proveedores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Los procesos manuales generan errores,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perdida de informacion y falta de control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Se requiere una solucion tecnologica que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optimice la operacion diaria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0" y="2381250"/>
            <a:ext cx="5238750" cy="5238750"/>
            <a:chOff x="0" y="0"/>
            <a:chExt cx="6985000" cy="698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0" cy="6985000"/>
            </a:xfrm>
            <a:custGeom>
              <a:avLst/>
              <a:gdLst/>
              <a:ahLst/>
              <a:cxnLst/>
              <a:rect l="l" t="t" r="r" b="b"/>
              <a:pathLst>
                <a:path w="6985000" h="6985000">
                  <a:moveTo>
                    <a:pt x="698500" y="0"/>
                  </a:moveTo>
                  <a:lnTo>
                    <a:pt x="6286500" y="0"/>
                  </a:lnTo>
                  <a:cubicBezTo>
                    <a:pt x="6672271" y="0"/>
                    <a:pt x="6985000" y="312729"/>
                    <a:pt x="6985000" y="698500"/>
                  </a:cubicBezTo>
                  <a:lnTo>
                    <a:pt x="6985000" y="6286500"/>
                  </a:lnTo>
                  <a:cubicBezTo>
                    <a:pt x="6985000" y="6672271"/>
                    <a:pt x="6672271" y="6985000"/>
                    <a:pt x="6286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952500"/>
            <a:ext cx="57150" cy="4762500"/>
            <a:chOff x="0" y="0"/>
            <a:chExt cx="762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6350000"/>
            </a:xfrm>
            <a:custGeom>
              <a:avLst/>
              <a:gdLst/>
              <a:ahLst/>
              <a:cxnLst/>
              <a:rect l="l" t="t" r="r" b="b"/>
              <a:pathLst>
                <a:path w="76200" h="6350000">
                  <a:moveTo>
                    <a:pt x="0" y="0"/>
                  </a:moveTo>
                  <a:lnTo>
                    <a:pt x="76200" y="0"/>
                  </a:lnTo>
                  <a:lnTo>
                    <a:pt x="76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05000" y="1152525"/>
            <a:ext cx="14287500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6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Objetivos del Proyecto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2362200"/>
            <a:ext cx="14287500" cy="496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Disenar e implementar una base de datos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relacional en Oracle para la cafeteria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Automatizar el control de inventarios,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ventas y proveedores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Generar reportes para la toma de decisiones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Mejorar la eficiencia operativa y reducir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errores humanos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0" y="2381250"/>
            <a:ext cx="5238750" cy="5238750"/>
            <a:chOff x="0" y="0"/>
            <a:chExt cx="6985000" cy="698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0" cy="6985000"/>
            </a:xfrm>
            <a:custGeom>
              <a:avLst/>
              <a:gdLst/>
              <a:ahLst/>
              <a:cxnLst/>
              <a:rect l="l" t="t" r="r" b="b"/>
              <a:pathLst>
                <a:path w="6985000" h="6985000">
                  <a:moveTo>
                    <a:pt x="698500" y="0"/>
                  </a:moveTo>
                  <a:lnTo>
                    <a:pt x="6286500" y="0"/>
                  </a:lnTo>
                  <a:cubicBezTo>
                    <a:pt x="6672271" y="0"/>
                    <a:pt x="6985000" y="312729"/>
                    <a:pt x="6985000" y="698500"/>
                  </a:cubicBezTo>
                  <a:lnTo>
                    <a:pt x="6985000" y="6286500"/>
                  </a:lnTo>
                  <a:cubicBezTo>
                    <a:pt x="6985000" y="6672271"/>
                    <a:pt x="6672271" y="6985000"/>
                    <a:pt x="6286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952500"/>
            <a:ext cx="57150" cy="4762500"/>
            <a:chOff x="0" y="0"/>
            <a:chExt cx="762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6350000"/>
            </a:xfrm>
            <a:custGeom>
              <a:avLst/>
              <a:gdLst/>
              <a:ahLst/>
              <a:cxnLst/>
              <a:rect l="l" t="t" r="r" b="b"/>
              <a:pathLst>
                <a:path w="76200" h="6350000">
                  <a:moveTo>
                    <a:pt x="0" y="0"/>
                  </a:moveTo>
                  <a:lnTo>
                    <a:pt x="76200" y="0"/>
                  </a:lnTo>
                  <a:lnTo>
                    <a:pt x="76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05000" y="1152525"/>
            <a:ext cx="14287500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6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Que es Oracle Database?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2362200"/>
            <a:ext cx="14287500" cy="546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Sistema de gestion de bases de datos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relacional (RDBMS) desarrollado por Oracle Corp.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Soporta grandes volumenes de datos con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alta disponibilidad y seguridad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Utiliza SQL y PL/SQL para manipulacion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y programacion de datos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Ideal para aplicaciones empresariales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y academicas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0" y="2381250"/>
            <a:ext cx="5238750" cy="5238750"/>
            <a:chOff x="0" y="0"/>
            <a:chExt cx="6985000" cy="698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0" cy="6985000"/>
            </a:xfrm>
            <a:custGeom>
              <a:avLst/>
              <a:gdLst/>
              <a:ahLst/>
              <a:cxnLst/>
              <a:rect l="l" t="t" r="r" b="b"/>
              <a:pathLst>
                <a:path w="6985000" h="6985000">
                  <a:moveTo>
                    <a:pt x="698500" y="0"/>
                  </a:moveTo>
                  <a:lnTo>
                    <a:pt x="6286500" y="0"/>
                  </a:lnTo>
                  <a:cubicBezTo>
                    <a:pt x="6672271" y="0"/>
                    <a:pt x="6985000" y="312729"/>
                    <a:pt x="6985000" y="698500"/>
                  </a:cubicBezTo>
                  <a:lnTo>
                    <a:pt x="6985000" y="6286500"/>
                  </a:lnTo>
                  <a:cubicBezTo>
                    <a:pt x="6985000" y="6672271"/>
                    <a:pt x="6672271" y="6985000"/>
                    <a:pt x="6286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952500"/>
            <a:ext cx="57150" cy="4762500"/>
            <a:chOff x="0" y="0"/>
            <a:chExt cx="762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6350000"/>
            </a:xfrm>
            <a:custGeom>
              <a:avLst/>
              <a:gdLst/>
              <a:ahLst/>
              <a:cxnLst/>
              <a:rect l="l" t="t" r="r" b="b"/>
              <a:pathLst>
                <a:path w="76200" h="6350000">
                  <a:moveTo>
                    <a:pt x="0" y="0"/>
                  </a:moveTo>
                  <a:lnTo>
                    <a:pt x="76200" y="0"/>
                  </a:lnTo>
                  <a:lnTo>
                    <a:pt x="76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05000" y="1152525"/>
            <a:ext cx="14287500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6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Ventajas de Oracle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2362200"/>
            <a:ext cx="14287500" cy="546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Alta seguridad y control de acceso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Escalabilidad para crecimiento futuro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Soporte para transacciones ACID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Herramientas de respaldo y recuperacion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Compatibilidad multiplataforma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Amplia documentacion y comunidad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0" y="2381250"/>
            <a:ext cx="5238750" cy="5238750"/>
            <a:chOff x="0" y="0"/>
            <a:chExt cx="6985000" cy="698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0" cy="6985000"/>
            </a:xfrm>
            <a:custGeom>
              <a:avLst/>
              <a:gdLst/>
              <a:ahLst/>
              <a:cxnLst/>
              <a:rect l="l" t="t" r="r" b="b"/>
              <a:pathLst>
                <a:path w="6985000" h="6985000">
                  <a:moveTo>
                    <a:pt x="698500" y="0"/>
                  </a:moveTo>
                  <a:lnTo>
                    <a:pt x="6286500" y="0"/>
                  </a:lnTo>
                  <a:cubicBezTo>
                    <a:pt x="6672271" y="0"/>
                    <a:pt x="6985000" y="312729"/>
                    <a:pt x="6985000" y="698500"/>
                  </a:cubicBezTo>
                  <a:lnTo>
                    <a:pt x="6985000" y="6286500"/>
                  </a:lnTo>
                  <a:cubicBezTo>
                    <a:pt x="6985000" y="6672271"/>
                    <a:pt x="6672271" y="6985000"/>
                    <a:pt x="6286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952500"/>
            <a:ext cx="57150" cy="4762500"/>
            <a:chOff x="0" y="0"/>
            <a:chExt cx="762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6350000"/>
            </a:xfrm>
            <a:custGeom>
              <a:avLst/>
              <a:gdLst/>
              <a:ahLst/>
              <a:cxnLst/>
              <a:rect l="l" t="t" r="r" b="b"/>
              <a:pathLst>
                <a:path w="76200" h="6350000">
                  <a:moveTo>
                    <a:pt x="0" y="0"/>
                  </a:moveTo>
                  <a:lnTo>
                    <a:pt x="76200" y="0"/>
                  </a:lnTo>
                  <a:lnTo>
                    <a:pt x="76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05000" y="1152525"/>
            <a:ext cx="14287500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6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Arquitectura del Sistema (3 Capas)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2362200"/>
            <a:ext cx="14287500" cy="447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CCCC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Capa de Presentacion: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Interfaz de usuario para consultas y registro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CCCC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Capa de Negocio: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Logica de validacion, calculos y reglas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CCCCCC"/>
                </a:solidFill>
                <a:latin typeface="Telegraf Bold"/>
                <a:ea typeface="Telegraf Bold"/>
                <a:cs typeface="Telegraf Bold"/>
                <a:sym typeface="Telegraf Bold"/>
              </a:rPr>
              <a:t>Capa de Datos: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Base de datos Oracle - almacenamiento,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procedimientos almacenados y triggers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0" y="2381250"/>
            <a:ext cx="5238750" cy="5238750"/>
            <a:chOff x="0" y="0"/>
            <a:chExt cx="6985000" cy="698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0" cy="6985000"/>
            </a:xfrm>
            <a:custGeom>
              <a:avLst/>
              <a:gdLst/>
              <a:ahLst/>
              <a:cxnLst/>
              <a:rect l="l" t="t" r="r" b="b"/>
              <a:pathLst>
                <a:path w="6985000" h="6985000">
                  <a:moveTo>
                    <a:pt x="698500" y="0"/>
                  </a:moveTo>
                  <a:lnTo>
                    <a:pt x="6286500" y="0"/>
                  </a:lnTo>
                  <a:cubicBezTo>
                    <a:pt x="6672271" y="0"/>
                    <a:pt x="6985000" y="312729"/>
                    <a:pt x="6985000" y="698500"/>
                  </a:cubicBezTo>
                  <a:lnTo>
                    <a:pt x="6985000" y="6286500"/>
                  </a:lnTo>
                  <a:cubicBezTo>
                    <a:pt x="6985000" y="6672271"/>
                    <a:pt x="6672271" y="6985000"/>
                    <a:pt x="6286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952500"/>
            <a:ext cx="57150" cy="4762500"/>
            <a:chOff x="0" y="0"/>
            <a:chExt cx="762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6350000"/>
            </a:xfrm>
            <a:custGeom>
              <a:avLst/>
              <a:gdLst/>
              <a:ahLst/>
              <a:cxnLst/>
              <a:rect l="l" t="t" r="r" b="b"/>
              <a:pathLst>
                <a:path w="76200" h="6350000">
                  <a:moveTo>
                    <a:pt x="0" y="0"/>
                  </a:moveTo>
                  <a:lnTo>
                    <a:pt x="76200" y="0"/>
                  </a:lnTo>
                  <a:lnTo>
                    <a:pt x="76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05000" y="1152525"/>
            <a:ext cx="14287500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6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Modelo de Datos - Entidades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2362200"/>
            <a:ext cx="14287500" cy="348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Productos (id, nombre, precio, categoria)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Proveedores (id, nombre, contacto, direccion)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Inventario (id_producto, cantidad, fecha)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Ventas (id_venta, fecha, total, id_empleado)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Detalle_Venta (id_venta, id_producto, cantidad)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Empleados (id, nombre, puesto, turno)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Categorias (id, descripcion)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0" y="2381250"/>
            <a:ext cx="5238750" cy="5238750"/>
            <a:chOff x="0" y="0"/>
            <a:chExt cx="6985000" cy="698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0" cy="6985000"/>
            </a:xfrm>
            <a:custGeom>
              <a:avLst/>
              <a:gdLst/>
              <a:ahLst/>
              <a:cxnLst/>
              <a:rect l="l" t="t" r="r" b="b"/>
              <a:pathLst>
                <a:path w="6985000" h="6985000">
                  <a:moveTo>
                    <a:pt x="698500" y="0"/>
                  </a:moveTo>
                  <a:lnTo>
                    <a:pt x="6286500" y="0"/>
                  </a:lnTo>
                  <a:cubicBezTo>
                    <a:pt x="6672271" y="0"/>
                    <a:pt x="6985000" y="312729"/>
                    <a:pt x="6985000" y="698500"/>
                  </a:cubicBezTo>
                  <a:lnTo>
                    <a:pt x="6985000" y="6286500"/>
                  </a:lnTo>
                  <a:cubicBezTo>
                    <a:pt x="6985000" y="6672271"/>
                    <a:pt x="6672271" y="6985000"/>
                    <a:pt x="6286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3500" y="952500"/>
            <a:ext cx="57150" cy="4762500"/>
            <a:chOff x="0" y="0"/>
            <a:chExt cx="762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" cy="6350000"/>
            </a:xfrm>
            <a:custGeom>
              <a:avLst/>
              <a:gdLst/>
              <a:ahLst/>
              <a:cxnLst/>
              <a:rect l="l" t="t" r="r" b="b"/>
              <a:pathLst>
                <a:path w="76200" h="6350000">
                  <a:moveTo>
                    <a:pt x="0" y="0"/>
                  </a:moveTo>
                  <a:lnTo>
                    <a:pt x="76200" y="0"/>
                  </a:lnTo>
                  <a:lnTo>
                    <a:pt x="76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E94560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905000" y="1152525"/>
            <a:ext cx="14287500" cy="8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6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DIN Next"/>
                <a:ea typeface="DIN Next"/>
                <a:cs typeface="DIN Next"/>
                <a:sym typeface="DIN Next"/>
              </a:rPr>
              <a:t>Resultados Esperados y Conclusiones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2362200"/>
            <a:ext cx="14287500" cy="496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Control preciso del inventario en tiempo real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Reduccion de perdidas y desperdicios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Reportes automaticos de ventas y existencias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Mayor eficiencia en la gestion administrativa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endParaRPr lang="en-US" sz="2600" u="none" strike="noStrike">
              <a:solidFill>
                <a:srgbClr val="CCCCC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- La implementacion en Oracle garantiza</a:t>
            </a:r>
          </a:p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CCCCCC"/>
                </a:solidFill>
                <a:latin typeface="Telegraf"/>
                <a:ea typeface="Telegraf"/>
                <a:cs typeface="Telegraf"/>
                <a:sym typeface="Telegraf"/>
              </a:rPr>
              <a:t>  seguridad, integridad y escalabilidad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0" y="2381250"/>
            <a:ext cx="5238750" cy="5238750"/>
            <a:chOff x="0" y="0"/>
            <a:chExt cx="6985000" cy="698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0" cy="6985000"/>
            </a:xfrm>
            <a:custGeom>
              <a:avLst/>
              <a:gdLst/>
              <a:ahLst/>
              <a:cxnLst/>
              <a:rect l="l" t="t" r="r" b="b"/>
              <a:pathLst>
                <a:path w="6985000" h="6985000">
                  <a:moveTo>
                    <a:pt x="698500" y="0"/>
                  </a:moveTo>
                  <a:lnTo>
                    <a:pt x="6286500" y="0"/>
                  </a:lnTo>
                  <a:cubicBezTo>
                    <a:pt x="6672271" y="0"/>
                    <a:pt x="6985000" y="312729"/>
                    <a:pt x="6985000" y="698500"/>
                  </a:cubicBezTo>
                  <a:lnTo>
                    <a:pt x="6985000" y="6286500"/>
                  </a:lnTo>
                  <a:cubicBezTo>
                    <a:pt x="6985000" y="6672271"/>
                    <a:pt x="6672271" y="6985000"/>
                    <a:pt x="6286500" y="6985000"/>
                  </a:cubicBezTo>
                  <a:lnTo>
                    <a:pt x="698500" y="6985000"/>
                  </a:lnTo>
                  <a:cubicBezTo>
                    <a:pt x="312729" y="6985000"/>
                    <a:pt x="0" y="6672271"/>
                    <a:pt x="0" y="6286500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>
                <a:alpha val="100000"/>
              </a:srgbClr>
            </a:gs>
            <a:gs pos="100000">
              <a:srgbClr val="0F346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9130" y="193764"/>
            <a:ext cx="15083614" cy="9964382"/>
          </a:xfrm>
          <a:custGeom>
            <a:avLst/>
            <a:gdLst/>
            <a:ahLst/>
            <a:cxnLst/>
            <a:rect l="l" t="t" r="r" b="b"/>
            <a:pathLst>
              <a:path w="15083614" h="9964382">
                <a:moveTo>
                  <a:pt x="0" y="0"/>
                </a:moveTo>
                <a:lnTo>
                  <a:pt x="15083614" y="0"/>
                </a:lnTo>
                <a:lnTo>
                  <a:pt x="15083614" y="9964383"/>
                </a:lnTo>
                <a:lnTo>
                  <a:pt x="0" y="99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79" r="-124"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Personalizado</PresentationFormat>
  <Paragraphs>79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DIN Next Bold</vt:lpstr>
      <vt:lpstr>Telegraf Bold</vt:lpstr>
      <vt:lpstr>Calibri</vt:lpstr>
      <vt:lpstr>DIN Next</vt:lpstr>
      <vt:lpstr>Telegraf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alejandro caballero</dc:creator>
  <cp:lastModifiedBy>Alvaro Alejandro Caballero Del Valle</cp:lastModifiedBy>
  <cp:revision>1</cp:revision>
  <dcterms:created xsi:type="dcterms:W3CDTF">2006-08-16T00:00:00Z</dcterms:created>
  <dcterms:modified xsi:type="dcterms:W3CDTF">2026-06-10T17:16:45Z</dcterms:modified>
  <dc:identifier>DAHMMJUt2ck</dc:identifier>
</cp:coreProperties>
</file>