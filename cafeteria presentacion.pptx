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724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EN SISTEMAS COMPUTACIONALES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BASES DE DATOS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Cafetería Escolar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— Oracle Database XE 21c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7180" y="333756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97180" y="33375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 XE 21c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34540" y="333756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034540" y="33375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/ DDL / DML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71900" y="333756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771900" y="33375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Tablas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09260" y="333756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09260" y="33375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Normalización 3FN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46620" y="333756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246620" y="33375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Triggers &amp; Vistas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 //  PROYECTO FINAL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// INTRODUCCIÓN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resolvemos?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motivación del proyecto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 CENTRAL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cafetería escolar no cuenta con un sistema que registre de forma ordenada sus pedidos, productos y ventas. Todo se maneja de forma manual.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33472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Pérdida de información sobre ventas diarias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633472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46320" y="2697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Errores en cobros y cálculo de totales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39312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historial de pedidos por cliente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639312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846320" y="3703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Imposible identificar productos más vendidos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// ORACLE DATABASE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Oracle Database?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Gestor de Bases de Datos Relacionales (SGBD)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es un SGBD relacional desarrollado por Oracle Corporation desde 1979. Es el motor de bases de datos más utilizado a nivel empresarial en el mundo, diseñado para gestionar grandes volúmenes de datos con alta disponibilidad, seguridad y rendimiento.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78608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5760" y="2670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2578608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514600" y="2670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51760" y="318211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ACID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578608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663440" y="2670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00600" y="318211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procedural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2578608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812280" y="2670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49440" y="318211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escalabilidad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Versión utilizada: Oracle Database XE 21c (Express Edition) — Gratuita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// JUSTIFICACIÓN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elegimos Oracle?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selección frente a otras alternativas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7772400" cy="281635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XE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 empresarial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PL/SQL procedural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✗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✗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avanzados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Secuencias nativas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✗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✗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gratuita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✗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académico amplio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Oracle XE es gratuito, usa PL/SQL con soporte para Triggers y Secuencias nativas — ideal para proyectos académicos de nivel profesional.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// INSTALACIÓN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 Instalación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XE 21c y Oracle SQL Developer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Oracle XE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a oracle.com/database/technologies/xe-downloads.html y descargar la versión para Windows o Linux.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02920" y="26334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oracle.com → XE 21c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Oracle XE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instalador. Definir contraseña para los usuarios SYS y SYSTEM. Puerto por defecto: 1521.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6334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846320" y="26334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Puerto: 1521 / SYS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3246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264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Developer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611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Oracle SQL Developer desde oracle.com. Es la interfaz gráfica para ejecutar scripts SQL.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32511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02920" y="4325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oracle.com → SQL Developer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15468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846320" y="3246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03520" y="3264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Live SQL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611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instalación: usar Oracle Live SQL en el navegador. Permite ejecutar todos los scripts del proyecto.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432511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846320" y="4325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livesql.oracle.com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// PLANTEAMIENTO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 del Problema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formal del sistema a desarrollar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30352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1737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cafetería escolar carece de un sistema de base de datos que permita registrar, consultar y controlar de manera eficiente los pedidos, productos, clientes y ventas.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30352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2651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una base de datos relacional en Oracle XE que gestione pedidos, productos, alumnos y empleados, garantizando integridad y disponibilidad.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48640" y="3364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INCLUYE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de productos y precios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Gestión de pedidos por alumno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61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Historial de ventas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553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Control de empleados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46320" y="3364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INCLUYE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App móvil o web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Pagos en línea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261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Inventario de ingredientes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553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Nómina del personal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// OBJETIVOS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Sistema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específicas que la base de datos debe cumplir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24128" y="155448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los productos disponibles con su precio y categoría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846320" y="153619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67528" y="155448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los pedidos realizados por alumnos y personal escolar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02920" y="267919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24128" y="269748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automáticamente el total de cada pedido mediante triggers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6060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846320" y="267919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67528" y="269748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qué empleado atendió cada pedido del sistema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382219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24128" y="384048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los productos más vendidos y los ingresos generados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7490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46320" y="382219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67528" y="384048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integridad referencial con llaves foráneas y constraints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// ARQUITECTURA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3 capas sobre Oracle Database XE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9436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53619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 DE PRESENTACIÓN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Developer / Oracle Live 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 para ejecutar scripts, consultar datos y visualizar resultados.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468880"/>
            <a:ext cx="0" cy="173736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59436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72491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 DE LÓGICA DE NEGOCIO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· Vistas · Secuencias · Constraints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200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del cálculo de totales, generación de IDs y validación de reglas de negocio.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657600"/>
            <a:ext cx="0" cy="173736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59436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91363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 DE PERSISTENCIA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0120" y="4114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XE — 6 Tablas Normalizadas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389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relacional con integridad referencial garantizada por llaves primarias y foráneas.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1463040"/>
            <a:ext cx="2377440" cy="301752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583680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20840" y="1874520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720840" y="18745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20840" y="2295144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720840" y="22951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20840" y="2715768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720840" y="27157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20840" y="3136392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720840" y="31363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EMPLEADO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20840" y="3557016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720840" y="35570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20840" y="3977640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720840" y="3977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DETALLE_PEDIDO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// MODELO 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Entidad-Relación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Chen — Relaciones entre entidades del sistema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554480" cy="384048"/>
          </a:xfrm>
          <a:prstGeom prst="rect">
            <a:avLst/>
          </a:prstGeom>
          <a:solidFill>
            <a:srgbClr val="1C16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0" y="1600200"/>
            <a:ext cx="1554480" cy="384048"/>
          </a:xfrm>
          <a:prstGeom prst="rect">
            <a:avLst/>
          </a:prstGeom>
          <a:solidFill>
            <a:srgbClr val="1C16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223760" y="1600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EMPLEADO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03320" y="1600200"/>
            <a:ext cx="1737360" cy="384048"/>
          </a:xfrm>
          <a:prstGeom prst="rect">
            <a:avLst/>
          </a:prstGeom>
          <a:solidFill>
            <a:srgbClr val="1C16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703320" y="1600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971800"/>
            <a:ext cx="2286000" cy="384048"/>
          </a:xfrm>
          <a:prstGeom prst="rect">
            <a:avLst/>
          </a:prstGeom>
          <a:solidFill>
            <a:srgbClr val="1C16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429000" y="2971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DETALLE_PEDIDO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03320" y="4343400"/>
            <a:ext cx="1737360" cy="384048"/>
          </a:xfrm>
          <a:prstGeom prst="rect">
            <a:avLst/>
          </a:prstGeom>
          <a:solidFill>
            <a:srgbClr val="1C16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703320" y="4343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1737360" cy="384048"/>
          </a:xfrm>
          <a:prstGeom prst="rect">
            <a:avLst/>
          </a:prstGeom>
          <a:solidFill>
            <a:srgbClr val="1C16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2700000">
            <a:off x="2148840" y="1572768"/>
            <a:ext cx="1371600" cy="402336"/>
          </a:xfrm>
          <a:prstGeom prst="rect">
            <a:avLst/>
          </a:prstGeom>
          <a:solidFill>
            <a:srgbClr val="091A09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148840" y="1627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2700000">
            <a:off x="5669280" y="1572768"/>
            <a:ext cx="1371600" cy="402336"/>
          </a:xfrm>
          <a:prstGeom prst="rect">
            <a:avLst/>
          </a:prstGeom>
          <a:solidFill>
            <a:srgbClr val="091A09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669280" y="1627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 rot="2700000">
            <a:off x="3840480" y="2450592"/>
            <a:ext cx="1463040" cy="402336"/>
          </a:xfrm>
          <a:prstGeom prst="rect">
            <a:avLst/>
          </a:prstGeom>
          <a:solidFill>
            <a:srgbClr val="091A09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840480" y="25054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rot="2700000">
            <a:off x="3840480" y="3858768"/>
            <a:ext cx="1463040" cy="402336"/>
          </a:xfrm>
          <a:prstGeom prst="rect">
            <a:avLst/>
          </a:prstGeom>
          <a:solidFill>
            <a:srgbClr val="091A09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840480" y="3913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rot="2700000">
            <a:off x="2651760" y="4315968"/>
            <a:ext cx="1463040" cy="402336"/>
          </a:xfrm>
          <a:prstGeom prst="rect">
            <a:avLst/>
          </a:prstGeom>
          <a:solidFill>
            <a:srgbClr val="091A09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2651760" y="4370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05840" y="1984248"/>
            <a:ext cx="1143000" cy="914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520440" y="1984248"/>
            <a:ext cx="182880" cy="914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7040880" y="1984248"/>
            <a:ext cx="182880" cy="914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5440680" y="1984248"/>
            <a:ext cx="228600" cy="914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572000" y="1984248"/>
            <a:ext cx="914" cy="466344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4572000" y="2852928"/>
            <a:ext cx="914" cy="118872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4572000" y="3355848"/>
            <a:ext cx="914" cy="50292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4572000" y="4261104"/>
            <a:ext cx="914" cy="82296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3383280" y="3163824"/>
            <a:ext cx="45720" cy="914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2468880" y="3163824"/>
            <a:ext cx="914" cy="1344168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1188720" y="3858768"/>
            <a:ext cx="1463040" cy="649224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141732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084832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0372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4360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2628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2628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26280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26280" y="4261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273552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331720" y="4206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// DICCIONARIO DE DATOS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 de Datos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tablas, tipos y restricciones principales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2316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ID_PEDIDO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NUMBER(8)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624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2624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2624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624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0083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30083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NUMBER(8,2)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30083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0083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3924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33924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VARCHAR2(15)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23160" y="33924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33924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7764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ID_ALUMNO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37764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NUMBER(8)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23160" y="37764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37764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ID_EMPLEADO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6304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NUMBER(5)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2316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1481328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937760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DETALLE_PEDIDO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9788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81812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3776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ID_DETALLE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9788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NUMBER(8)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81812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37760" y="2624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ID_PEDIDO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97880" y="2624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NUMBER(8)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0" y="2624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818120" y="2624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37760" y="30083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ID_PRODUCTO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97880" y="30083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NUMBER(5)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58000" y="30083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818120" y="30083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37760" y="33924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897880" y="33924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NUMBER(3)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58000" y="33924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818120" y="33924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937760" y="37764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897880" y="37764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NUMBER(8,2)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858000" y="37764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818120" y="37764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5760" y="4919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Tablas restantes: ALUMNO, EMPLEADO, PRODUCTO, CATEGORIA — ver diccionario completo en docs/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// DDL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SQL — DDL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la estructura de la base de datos en Oracle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627632"/>
          </a:xfrm>
          <a:prstGeom prst="roundRect">
            <a:avLst>
              <a:gd name="adj" fmla="val 4494"/>
            </a:avLst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SECUENCIA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" y="1847088"/>
            <a:ext cx="3895344" cy="1152144"/>
          </a:xfrm>
          <a:prstGeom prst="roundRect">
            <a:avLst>
              <a:gd name="adj" fmla="val 3175"/>
            </a:avLst>
          </a:prstGeom>
          <a:solidFill>
            <a:srgbClr val="060A0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SEQUENCE seq_pedido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 WITH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INCREMENT BY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NOCACHE NOCYCLE;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114800" cy="1627632"/>
          </a:xfrm>
          <a:prstGeom prst="roundRect">
            <a:avLst>
              <a:gd name="adj" fmla="val 4494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 PEDIDO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64608" y="1847088"/>
            <a:ext cx="3895344" cy="1152144"/>
          </a:xfrm>
          <a:prstGeom prst="roundRect">
            <a:avLst>
              <a:gd name="adj" fmla="val 3175"/>
            </a:avLst>
          </a:prstGeom>
          <a:solidFill>
            <a:srgbClr val="060A0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PEDIDO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ID_PEDIDO   NUMBER(8) NOT NULL,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       DATE DEFAULT SYSDATE,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      NUMBER(8,2) DEFAULT 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ESTADO      VARCHAR2(15),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pk_pedido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PRIMARY KEY (ID_PEDIDO)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273552"/>
            <a:ext cx="4114800" cy="1627632"/>
          </a:xfrm>
          <a:prstGeom prst="roundRect">
            <a:avLst>
              <a:gd name="adj" fmla="val 4494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2920" y="3364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3657600"/>
            <a:ext cx="3895344" cy="1152144"/>
          </a:xfrm>
          <a:prstGeom prst="roundRect">
            <a:avLst>
              <a:gd name="adj" fmla="val 3175"/>
            </a:avLst>
          </a:prstGeom>
          <a:solidFill>
            <a:srgbClr val="060A0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48640" y="368503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TRIGGER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trg_actualizar_total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ON DETALLE_PEDIDO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PEDIDO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TOTAL = TOTAL + :NEW.SUBTOTAL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ID_PEDIDO = :NEW.ID_PEDIDO;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3273552"/>
            <a:ext cx="4114800" cy="1627632"/>
          </a:xfrm>
          <a:prstGeom prst="roundRect">
            <a:avLst>
              <a:gd name="adj" fmla="val 4494"/>
            </a:avLst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92040" y="3364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64608" y="3657600"/>
            <a:ext cx="3895344" cy="1152144"/>
          </a:xfrm>
          <a:prstGeom prst="roundRect">
            <a:avLst>
              <a:gd name="adj" fmla="val 3175"/>
            </a:avLst>
          </a:prstGeom>
          <a:solidFill>
            <a:srgbClr val="060A0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937760" y="368503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VIEW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VW_VENTAS 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P.ID_PEDIDO,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A.NOMBRE || ' ' || A.APELLIDO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CLIENTE,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E.NOMBRE AS EMPLEADO,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P.TOTAL, P.ESTADO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PEDIDO 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ALUMNO A ON 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EMPLEADO E ON ...;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// FUNCIONAMIENTO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Técnico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 una transacción en el sistema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28600" y="15544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01752" y="210312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278892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via secuencia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ALUMNO + EMPLEADO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PENDIENTE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47088" y="3063240"/>
            <a:ext cx="118872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984248" y="146304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984248" y="15544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57400" y="210312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× 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278892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producto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calculado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02736" y="3063240"/>
            <a:ext cx="118872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739896" y="146304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739896" y="15544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813048" y="210312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3048" y="278892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PEDIDO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acumulado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58384" y="3063240"/>
            <a:ext cx="118872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495544" y="146304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495544" y="15544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568696" y="210312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68696" y="278892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ENTREGADO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DML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14032" y="3063240"/>
            <a:ext cx="118872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7251192" y="146304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251192" y="15544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324344" y="210312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24344" y="278892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persistidos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VW_VENTAS disponible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garantizado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4754880"/>
            <a:ext cx="8686800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Si el COMMIT falla en cualquier paso → ROLLBACK deshace toda la transacción (Propiedad ACID — Atomicidad)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// CONCLUSIONES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aprendizajes del proyecto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diseñó una BD relacional en Oracle XE con 6 tablas normalizadas hasta 3FN, garantizando integridad y eliminando redundancia.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22576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239572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fue elegido por su soporte nativo a Triggers, Secuencias y PL/SQL, funcionalidades clave para automatizar el cálculo de totales.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2920" y="323697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323697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Trigger trg_actualizar_total automatiza el cálculo del total del pedido sin intervención manual, reduciendo errores operativos.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0507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407822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407822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VW_VENTAS permite consultar reportes consolidados de ventas en tiempo real, facilitando la toma de decisiones.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de Gestión — Cafetería Escolar  //  Oracle Database XE 21c  //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1285</Words>
  <Application>Microsoft Office PowerPoint</Application>
  <PresentationFormat>Presentación en pantalla (16:9)</PresentationFormat>
  <Paragraphs>328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Cafetería Escolar — Oracle Database</dc:title>
  <dc:subject>PptxGenJS Presentation</dc:subject>
  <dc:creator>PptxGenJS</dc:creator>
  <cp:lastModifiedBy>Alvaro Alejandro Caballero Del Valle</cp:lastModifiedBy>
  <cp:revision>1</cp:revision>
  <dcterms:created xsi:type="dcterms:W3CDTF">2026-06-12T21:29:18Z</dcterms:created>
  <dcterms:modified xsi:type="dcterms:W3CDTF">2026-07-13T23:44:15Z</dcterms:modified>
</cp:coreProperties>
</file>